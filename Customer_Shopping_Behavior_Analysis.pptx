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1"/>
            </a:pPr>
            <a:r>
              <a:rPr lang="en-IN"/>
              <a:t>Revenue by Category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3769DC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</c:f>
              <c:strCache>
                <c:ptCount val="4"/>
                <c:pt idx="0">
                  <c:v>Clothing</c:v>
                </c:pt>
                <c:pt idx="1">
                  <c:v>Accessories</c:v>
                </c:pt>
                <c:pt idx="2">
                  <c:v>Footwear</c:v>
                </c:pt>
                <c:pt idx="3">
                  <c:v>Outerwear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104264</c:v>
                </c:pt>
                <c:pt idx="1">
                  <c:v>74200</c:v>
                </c:pt>
                <c:pt idx="2">
                  <c:v>36093</c:v>
                </c:pt>
                <c:pt idx="3">
                  <c:v>18524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46CE-4463-8F8F-B840F608772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3769DC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Loyal</c:v>
                </c:pt>
                <c:pt idx="1">
                  <c:v>Returning</c:v>
                </c:pt>
                <c:pt idx="2">
                  <c:v>New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3116</c:v>
                </c:pt>
                <c:pt idx="1">
                  <c:v>701</c:v>
                </c:pt>
                <c:pt idx="2">
                  <c:v>83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37A-45EE-82FD-384DCDEF66F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1"/>
            </a:pPr>
            <a:r>
              <a:rPr lang="en-IN"/>
              <a:t>Top-Rated Products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3769DC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Sheet1!$A$2:$A$6</c:f>
              <c:strCache>
                <c:ptCount val="5"/>
                <c:pt idx="0">
                  <c:v>Gloves</c:v>
                </c:pt>
                <c:pt idx="1">
                  <c:v>Sandals</c:v>
                </c:pt>
                <c:pt idx="2">
                  <c:v>Boots</c:v>
                </c:pt>
                <c:pt idx="3">
                  <c:v>Hat</c:v>
                </c:pt>
                <c:pt idx="4">
                  <c:v>Skirt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3.86</c:v>
                </c:pt>
                <c:pt idx="1">
                  <c:v>3.84</c:v>
                </c:pt>
                <c:pt idx="2">
                  <c:v>3.82</c:v>
                </c:pt>
                <c:pt idx="3">
                  <c:v>3.8</c:v>
                </c:pt>
                <c:pt idx="4">
                  <c:v>3.78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3A0E-4BEC-8E8C-3385F6FAAC1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1"/>
            </a:pPr>
            <a:r>
              <a:rPr lang="en-IN"/>
              <a:t>Highest Discount Rates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3769DC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Sheet1!$A$2:$A$6</c:f>
              <c:strCache>
                <c:ptCount val="5"/>
                <c:pt idx="0">
                  <c:v>Hat</c:v>
                </c:pt>
                <c:pt idx="1">
                  <c:v>Sneakers</c:v>
                </c:pt>
                <c:pt idx="2">
                  <c:v>Coat</c:v>
                </c:pt>
                <c:pt idx="3">
                  <c:v>Sweater</c:v>
                </c:pt>
                <c:pt idx="4">
                  <c:v>Pants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</c:v>
                </c:pt>
                <c:pt idx="1">
                  <c:v>49.66</c:v>
                </c:pt>
                <c:pt idx="2">
                  <c:v>49.07</c:v>
                </c:pt>
                <c:pt idx="3">
                  <c:v>48.17</c:v>
                </c:pt>
                <c:pt idx="4">
                  <c:v>47.37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5A18-4FA0-9E3E-E0AA44D0381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1"/>
            </a:pPr>
            <a:r>
              <a:rPr lang="en-IN"/>
              <a:t>Revenue by Age Group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3769DC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</c:f>
              <c:strCache>
                <c:ptCount val="4"/>
                <c:pt idx="0">
                  <c:v>Young Adult</c:v>
                </c:pt>
                <c:pt idx="1">
                  <c:v>Middle-aged</c:v>
                </c:pt>
                <c:pt idx="2">
                  <c:v>Adult</c:v>
                </c:pt>
                <c:pt idx="3">
                  <c:v>Senior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62143</c:v>
                </c:pt>
                <c:pt idx="1">
                  <c:v>59197</c:v>
                </c:pt>
                <c:pt idx="2">
                  <c:v>55978</c:v>
                </c:pt>
                <c:pt idx="3">
                  <c:v>55763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3029-437C-BD52-3E4DAD9202F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7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121C30"/>
                </a:solidFill>
                <a:latin typeface="Aptos Display"/>
              </a:defRPr>
            </a:pPr>
            <a:r>
              <a:rPr dirty="0"/>
              <a:t>Customer Shopping</a:t>
            </a:r>
            <a:br>
              <a:rPr dirty="0"/>
            </a:br>
            <a:r>
              <a:rPr dirty="0"/>
              <a:t>Behavior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2788920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5F697D"/>
                </a:solidFill>
                <a:latin typeface="Aptos"/>
              </a:defRPr>
            </a:pPr>
            <a:r>
              <a:t>Turning customer data into actionable business insights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3977639"/>
            <a:ext cx="19659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tlCol="0" anchor="ctr"/>
          <a:lstStyle/>
          <a:p>
            <a:pPr algn="ctr">
              <a:defRPr sz="1200" b="1">
                <a:solidFill>
                  <a:srgbClr val="5F697D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3977639"/>
            <a:ext cx="64008" cy="822960"/>
          </a:xfrm>
          <a:prstGeom prst="rect">
            <a:avLst/>
          </a:prstGeom>
          <a:solidFill>
            <a:srgbClr val="37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990088" y="3977639"/>
            <a:ext cx="19659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tlCol="0" anchor="ctr"/>
          <a:lstStyle/>
          <a:p>
            <a:pPr algn="ctr">
              <a:defRPr sz="1200" b="1">
                <a:solidFill>
                  <a:srgbClr val="5F697D"/>
                </a:solidFill>
                <a:latin typeface="Aptos"/>
              </a:defRPr>
            </a:pPr>
            <a:r>
              <a:t>PostgreSQL</a:t>
            </a:r>
          </a:p>
        </p:txBody>
      </p:sp>
      <p:sp>
        <p:nvSpPr>
          <p:cNvPr id="8" name="Rectangle 7"/>
          <p:cNvSpPr/>
          <p:nvPr/>
        </p:nvSpPr>
        <p:spPr>
          <a:xfrm>
            <a:off x="2990088" y="3977639"/>
            <a:ext cx="64008" cy="822960"/>
          </a:xfrm>
          <a:prstGeom prst="rect">
            <a:avLst/>
          </a:prstGeom>
          <a:solidFill>
            <a:srgbClr val="70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230368" y="3977639"/>
            <a:ext cx="19659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tlCol="0" anchor="ctr"/>
          <a:lstStyle/>
          <a:p>
            <a:pPr algn="ctr">
              <a:defRPr sz="1200" b="1">
                <a:solidFill>
                  <a:srgbClr val="5F697D"/>
                </a:solidFill>
                <a:latin typeface="Aptos"/>
              </a:defRPr>
            </a:pPr>
            <a:r>
              <a:t>SQL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30368" y="3977639"/>
            <a:ext cx="64008" cy="822960"/>
          </a:xfrm>
          <a:prstGeom prst="rect">
            <a:avLst/>
          </a:prstGeom>
          <a:solidFill>
            <a:srgbClr val="269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470648" y="3977639"/>
            <a:ext cx="19659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tlCol="0" anchor="ctr"/>
          <a:lstStyle/>
          <a:p>
            <a:pPr algn="ctr">
              <a:defRPr sz="1200" b="1">
                <a:solidFill>
                  <a:srgbClr val="5F697D"/>
                </a:solidFill>
                <a:latin typeface="Aptos"/>
              </a:defRPr>
            </a:pPr>
            <a:r>
              <a:t>Power BI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70648" y="3977639"/>
            <a:ext cx="64008" cy="822960"/>
          </a:xfrm>
          <a:prstGeom prst="rect">
            <a:avLst/>
          </a:prstGeom>
          <a:solidFill>
            <a:srgbClr val="E88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6711696"/>
            <a:ext cx="12191695" cy="18288"/>
          </a:xfrm>
          <a:prstGeom prst="rect">
            <a:avLst/>
          </a:prstGeom>
          <a:solidFill>
            <a:srgbClr val="DC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C30"/>
                </a:solidFill>
                <a:latin typeface="Aptos Display"/>
              </a:defRPr>
            </a:pPr>
            <a:r>
              <a:t>Dataset &amp; Project Objective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tlCol="0" anchor="ctr"/>
          <a:lstStyle/>
          <a:p>
            <a:pPr algn="ctr">
              <a:defRPr sz="1200" b="1">
                <a:solidFill>
                  <a:srgbClr val="5F697D"/>
                </a:solidFill>
                <a:latin typeface="Aptos"/>
              </a:defRPr>
            </a:pPr>
            <a:r>
              <a:t>Purchase Records</a:t>
            </a:r>
          </a:p>
          <a:p>
            <a:pPr algn="ctr">
              <a:spcBef>
                <a:spcPts val="600"/>
              </a:spcBef>
              <a:defRPr sz="2500" b="1">
                <a:solidFill>
                  <a:srgbClr val="121C30"/>
                </a:solidFill>
                <a:latin typeface="Aptos Display"/>
              </a:defRPr>
            </a:pPr>
            <a:r>
              <a:t>3,900</a:t>
            </a:r>
          </a:p>
          <a:p>
            <a:pPr algn="ctr">
              <a:spcBef>
                <a:spcPts val="500"/>
              </a:spcBef>
              <a:defRPr sz="1000">
                <a:solidFill>
                  <a:srgbClr val="5F697D"/>
                </a:solidFill>
                <a:latin typeface="Aptos"/>
              </a:defRPr>
            </a:pPr>
            <a:r>
              <a:t>Customer transactions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64008" cy="1417320"/>
          </a:xfrm>
          <a:prstGeom prst="rect">
            <a:avLst/>
          </a:prstGeom>
          <a:solidFill>
            <a:srgbClr val="37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834640" y="1325880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tlCol="0" anchor="ctr"/>
          <a:lstStyle/>
          <a:p>
            <a:pPr algn="ctr">
              <a:defRPr sz="1200" b="1">
                <a:solidFill>
                  <a:srgbClr val="5F697D"/>
                </a:solidFill>
                <a:latin typeface="Aptos"/>
              </a:defRPr>
            </a:pPr>
            <a:r>
              <a:t>Original Columns</a:t>
            </a:r>
          </a:p>
          <a:p>
            <a:pPr algn="ctr">
              <a:spcBef>
                <a:spcPts val="600"/>
              </a:spcBef>
              <a:defRPr sz="2500" b="1">
                <a:solidFill>
                  <a:srgbClr val="121C30"/>
                </a:solidFill>
                <a:latin typeface="Aptos Display"/>
              </a:defRPr>
            </a:pPr>
            <a:r>
              <a:t>18</a:t>
            </a:r>
          </a:p>
          <a:p>
            <a:pPr algn="ctr">
              <a:spcBef>
                <a:spcPts val="500"/>
              </a:spcBef>
              <a:defRPr sz="1000">
                <a:solidFill>
                  <a:srgbClr val="5F697D"/>
                </a:solidFill>
                <a:latin typeface="Aptos"/>
              </a:defRPr>
            </a:pPr>
            <a:r>
              <a:t>Demographics &amp; behavior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4640" y="1325880"/>
            <a:ext cx="64008" cy="1417320"/>
          </a:xfrm>
          <a:prstGeom prst="rect">
            <a:avLst/>
          </a:prstGeom>
          <a:solidFill>
            <a:srgbClr val="70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0" y="1325880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tlCol="0" anchor="ctr"/>
          <a:lstStyle/>
          <a:p>
            <a:pPr algn="ctr">
              <a:defRPr sz="1200" b="1">
                <a:solidFill>
                  <a:srgbClr val="5F697D"/>
                </a:solidFill>
                <a:latin typeface="Aptos"/>
              </a:defRPr>
            </a:pPr>
            <a:r>
              <a:t>Missing Values</a:t>
            </a:r>
          </a:p>
          <a:p>
            <a:pPr algn="ctr">
              <a:spcBef>
                <a:spcPts val="600"/>
              </a:spcBef>
              <a:defRPr sz="2500" b="1">
                <a:solidFill>
                  <a:srgbClr val="121C30"/>
                </a:solidFill>
                <a:latin typeface="Aptos Display"/>
              </a:defRPr>
            </a:pPr>
            <a:r>
              <a:t>37</a:t>
            </a:r>
          </a:p>
          <a:p>
            <a:pPr algn="ctr">
              <a:spcBef>
                <a:spcPts val="500"/>
              </a:spcBef>
              <a:defRPr sz="1000">
                <a:solidFill>
                  <a:srgbClr val="5F697D"/>
                </a:solidFill>
                <a:latin typeface="Aptos"/>
              </a:defRPr>
            </a:pPr>
            <a:r>
              <a:t>Review Rating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1325880"/>
            <a:ext cx="64008" cy="1417320"/>
          </a:xfrm>
          <a:prstGeom prst="rect">
            <a:avLst/>
          </a:prstGeom>
          <a:solidFill>
            <a:srgbClr val="E88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60920" y="1353902"/>
            <a:ext cx="3625480" cy="14388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21C30"/>
                </a:solidFill>
              </a:defRPr>
            </a:pPr>
            <a:r>
              <a:rPr u="sng" dirty="0"/>
              <a:t>Project objective</a:t>
            </a:r>
          </a:p>
          <a:p>
            <a:pPr>
              <a:spcAft>
                <a:spcPts val="500"/>
              </a:spcAft>
              <a:defRPr sz="1200">
                <a:solidFill>
                  <a:srgbClr val="5F697D"/>
                </a:solidFill>
              </a:defRPr>
            </a:pPr>
            <a:r>
              <a:rPr sz="1400" dirty="0"/>
              <a:t>• Understand customer spending</a:t>
            </a:r>
          </a:p>
          <a:p>
            <a:pPr>
              <a:spcAft>
                <a:spcPts val="500"/>
              </a:spcAft>
              <a:defRPr sz="1200">
                <a:solidFill>
                  <a:srgbClr val="5F697D"/>
                </a:solidFill>
              </a:defRPr>
            </a:pPr>
            <a:r>
              <a:rPr sz="1400" dirty="0"/>
              <a:t>• Identify product &amp; category performance</a:t>
            </a:r>
          </a:p>
          <a:p>
            <a:pPr>
              <a:spcAft>
                <a:spcPts val="500"/>
              </a:spcAft>
              <a:defRPr sz="1200">
                <a:solidFill>
                  <a:srgbClr val="5F697D"/>
                </a:solidFill>
              </a:defRPr>
            </a:pPr>
            <a:r>
              <a:rPr sz="1400" dirty="0"/>
              <a:t>• Analyze subscriptions &amp; loyalty</a:t>
            </a:r>
          </a:p>
          <a:p>
            <a:pPr>
              <a:spcAft>
                <a:spcPts val="500"/>
              </a:spcAft>
              <a:defRPr sz="1200">
                <a:solidFill>
                  <a:srgbClr val="5F697D"/>
                </a:solidFill>
              </a:defRPr>
            </a:pPr>
            <a:r>
              <a:rPr sz="1400" dirty="0"/>
              <a:t>• Turn findings into business recommendations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27832"/>
            <a:ext cx="10881360" cy="859536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tlCol="0" anchor="ctr"/>
          <a:lstStyle/>
          <a:p>
            <a:pPr algn="ctr">
              <a:defRPr sz="1200" b="1">
                <a:solidFill>
                  <a:srgbClr val="5F697D"/>
                </a:solidFill>
                <a:latin typeface="Aptos"/>
              </a:defRPr>
            </a:pPr>
            <a:r>
              <a:rPr sz="1600" dirty="0"/>
              <a:t>Dataset includes</a:t>
            </a:r>
          </a:p>
          <a:p>
            <a:pPr algn="ctr">
              <a:spcBef>
                <a:spcPts val="600"/>
              </a:spcBef>
              <a:defRPr sz="2500" b="1">
                <a:solidFill>
                  <a:srgbClr val="121C30"/>
                </a:solidFill>
                <a:latin typeface="Aptos Display"/>
              </a:defRPr>
            </a:pPr>
            <a:r>
              <a:rPr sz="1700" dirty="0">
                <a:latin typeface="Bell MT" panose="02020503060305020303" pitchFamily="18" charset="0"/>
              </a:rPr>
              <a:t>Customer demographics • Purchase details • Shopping behavior • Ratings • Shipping • Subscription status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154680"/>
            <a:ext cx="64008" cy="1143000"/>
          </a:xfrm>
          <a:prstGeom prst="rect">
            <a:avLst/>
          </a:prstGeom>
          <a:solidFill>
            <a:srgbClr val="269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0297" y="4668012"/>
            <a:ext cx="10881360" cy="813816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tlCol="0" anchor="ctr"/>
          <a:lstStyle/>
          <a:p>
            <a:pPr algn="ctr">
              <a:defRPr sz="1200" b="1">
                <a:solidFill>
                  <a:srgbClr val="5F697D"/>
                </a:solidFill>
                <a:latin typeface="Aptos"/>
              </a:defRPr>
            </a:pPr>
            <a:r>
              <a:rPr sz="1600" dirty="0"/>
              <a:t>Core question</a:t>
            </a:r>
          </a:p>
          <a:p>
            <a:pPr>
              <a:spcBef>
                <a:spcPts val="600"/>
              </a:spcBef>
              <a:defRPr sz="2500" b="1">
                <a:solidFill>
                  <a:srgbClr val="121C30"/>
                </a:solidFill>
                <a:latin typeface="Aptos Display"/>
              </a:defRPr>
            </a:pPr>
            <a:r>
              <a:rPr sz="1750" dirty="0">
                <a:latin typeface="Bell MT" panose="02020503060305020303" pitchFamily="18" charset="0"/>
              </a:rPr>
              <a:t>What can customer purchase data tell us about revenue, products, loyalty and subscription opportunities?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572000"/>
            <a:ext cx="64008" cy="1005840"/>
          </a:xfrm>
          <a:prstGeom prst="rect">
            <a:avLst/>
          </a:prstGeom>
          <a:solidFill>
            <a:srgbClr val="37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6711696"/>
            <a:ext cx="12191695" cy="18288"/>
          </a:xfrm>
          <a:prstGeom prst="rect">
            <a:avLst/>
          </a:prstGeom>
          <a:solidFill>
            <a:srgbClr val="DC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C30"/>
                </a:solidFill>
                <a:latin typeface="Aptos Display"/>
              </a:defRPr>
            </a:pPr>
            <a:r>
              <a:t>Data Preparation &amp; Feature Engineering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37160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tlCol="0" anchor="ctr"/>
          <a:lstStyle/>
          <a:p>
            <a:pPr algn="ctr">
              <a:defRPr sz="1200" b="1">
                <a:solidFill>
                  <a:srgbClr val="5F697D"/>
                </a:solidFill>
                <a:latin typeface="Aptos"/>
              </a:defRPr>
            </a:pPr>
            <a:r>
              <a:t>01  Data Loading</a:t>
            </a:r>
          </a:p>
          <a:p>
            <a:pPr algn="ctr">
              <a:spcBef>
                <a:spcPts val="500"/>
              </a:spcBef>
              <a:defRPr sz="1000">
                <a:solidFill>
                  <a:srgbClr val="5F697D"/>
                </a:solidFill>
                <a:latin typeface="Aptos"/>
              </a:defRPr>
            </a:pPr>
            <a:r>
              <a:t>Imported dataset using pandas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71600"/>
            <a:ext cx="64008" cy="1600200"/>
          </a:xfrm>
          <a:prstGeom prst="rect">
            <a:avLst/>
          </a:prstGeom>
          <a:solidFill>
            <a:srgbClr val="37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434840" y="137160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tlCol="0" anchor="ctr"/>
          <a:lstStyle/>
          <a:p>
            <a:pPr algn="ctr">
              <a:defRPr sz="1200" b="1">
                <a:solidFill>
                  <a:srgbClr val="5F697D"/>
                </a:solidFill>
                <a:latin typeface="Aptos"/>
              </a:defRPr>
            </a:pPr>
            <a:r>
              <a:t>02  Exploration</a:t>
            </a:r>
          </a:p>
          <a:p>
            <a:pPr algn="ctr">
              <a:spcBef>
                <a:spcPts val="500"/>
              </a:spcBef>
              <a:defRPr sz="1000">
                <a:solidFill>
                  <a:srgbClr val="5F697D"/>
                </a:solidFill>
                <a:latin typeface="Aptos"/>
              </a:defRPr>
            </a:pPr>
            <a:r>
              <a:t>Checked structure &amp; summary statistics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371600"/>
            <a:ext cx="64008" cy="1600200"/>
          </a:xfrm>
          <a:prstGeom prst="rect">
            <a:avLst/>
          </a:prstGeom>
          <a:solidFill>
            <a:srgbClr val="70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75320" y="137160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tlCol="0" anchor="ctr"/>
          <a:lstStyle/>
          <a:p>
            <a:pPr algn="ctr">
              <a:defRPr sz="1200" b="1">
                <a:solidFill>
                  <a:srgbClr val="5F697D"/>
                </a:solidFill>
                <a:latin typeface="Aptos"/>
              </a:defRPr>
            </a:pPr>
            <a:r>
              <a:t>03  Missing Data</a:t>
            </a:r>
          </a:p>
          <a:p>
            <a:pPr algn="ctr">
              <a:spcBef>
                <a:spcPts val="500"/>
              </a:spcBef>
              <a:defRPr sz="1000">
                <a:solidFill>
                  <a:srgbClr val="5F697D"/>
                </a:solidFill>
                <a:latin typeface="Aptos"/>
              </a:defRPr>
            </a:pPr>
            <a:r>
              <a:t>Category-level median for review ratings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75320" y="1371600"/>
            <a:ext cx="64008" cy="1600200"/>
          </a:xfrm>
          <a:prstGeom prst="rect">
            <a:avLst/>
          </a:prstGeom>
          <a:solidFill>
            <a:srgbClr val="E88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94360" y="352044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tlCol="0" anchor="ctr"/>
          <a:lstStyle/>
          <a:p>
            <a:pPr algn="ctr">
              <a:defRPr sz="1200" b="1">
                <a:solidFill>
                  <a:srgbClr val="5F697D"/>
                </a:solidFill>
                <a:latin typeface="Aptos"/>
              </a:defRPr>
            </a:pPr>
            <a:r>
              <a:t>04  Standardization</a:t>
            </a:r>
          </a:p>
          <a:p>
            <a:pPr algn="ctr">
              <a:spcBef>
                <a:spcPts val="500"/>
              </a:spcBef>
              <a:defRPr sz="1000">
                <a:solidFill>
                  <a:srgbClr val="5F697D"/>
                </a:solidFill>
                <a:latin typeface="Aptos"/>
              </a:defRPr>
            </a:pPr>
            <a:r>
              <a:t>Renamed columns to snake_case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520440"/>
            <a:ext cx="64008" cy="1600200"/>
          </a:xfrm>
          <a:prstGeom prst="rect">
            <a:avLst/>
          </a:prstGeom>
          <a:solidFill>
            <a:srgbClr val="269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434840" y="352044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tlCol="0" anchor="ctr"/>
          <a:lstStyle/>
          <a:p>
            <a:pPr algn="ctr">
              <a:defRPr sz="1200" b="1">
                <a:solidFill>
                  <a:srgbClr val="5F697D"/>
                </a:solidFill>
                <a:latin typeface="Aptos"/>
              </a:defRPr>
            </a:pPr>
            <a:r>
              <a:t>05  Feature Engineering</a:t>
            </a:r>
          </a:p>
          <a:p>
            <a:pPr algn="ctr">
              <a:spcBef>
                <a:spcPts val="500"/>
              </a:spcBef>
              <a:defRPr sz="1000">
                <a:solidFill>
                  <a:srgbClr val="5F697D"/>
                </a:solidFill>
                <a:latin typeface="Aptos"/>
              </a:defRPr>
            </a:pPr>
            <a:r>
              <a:t>Created age_group &amp; purchase_frequency_days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3520440"/>
            <a:ext cx="64008" cy="1600200"/>
          </a:xfrm>
          <a:prstGeom prst="rect">
            <a:avLst/>
          </a:prstGeom>
          <a:solidFill>
            <a:srgbClr val="37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275320" y="352044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tlCol="0" anchor="ctr"/>
          <a:lstStyle/>
          <a:p>
            <a:pPr algn="ctr">
              <a:defRPr sz="1200" b="1">
                <a:solidFill>
                  <a:srgbClr val="5F697D"/>
                </a:solidFill>
                <a:latin typeface="Aptos"/>
              </a:defRPr>
            </a:pPr>
            <a:r>
              <a:t>06  Database</a:t>
            </a:r>
          </a:p>
          <a:p>
            <a:pPr algn="ctr">
              <a:spcBef>
                <a:spcPts val="500"/>
              </a:spcBef>
              <a:defRPr sz="1000">
                <a:solidFill>
                  <a:srgbClr val="5F697D"/>
                </a:solidFill>
                <a:latin typeface="Aptos"/>
              </a:defRPr>
            </a:pPr>
            <a:r>
              <a:t>Removed promo_code_used; loaded to PostgreSQL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75320" y="3520440"/>
            <a:ext cx="64008" cy="1600200"/>
          </a:xfrm>
          <a:prstGeom prst="rect">
            <a:avLst/>
          </a:prstGeom>
          <a:solidFill>
            <a:srgbClr val="70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09447" y="5605272"/>
            <a:ext cx="10972800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tlCol="0" anchor="ctr"/>
          <a:lstStyle/>
          <a:p>
            <a:pPr algn="ctr">
              <a:defRPr sz="1200" b="1">
                <a:solidFill>
                  <a:srgbClr val="5F697D"/>
                </a:solidFill>
                <a:latin typeface="Aptos"/>
              </a:defRPr>
            </a:pPr>
            <a:r>
              <a:rPr sz="1600" dirty="0"/>
              <a:t>Outcome</a:t>
            </a:r>
          </a:p>
          <a:p>
            <a:pPr algn="ctr">
              <a:spcBef>
                <a:spcPts val="600"/>
              </a:spcBef>
              <a:defRPr sz="2500" b="1">
                <a:solidFill>
                  <a:srgbClr val="121C30"/>
                </a:solidFill>
                <a:latin typeface="Aptos Display"/>
              </a:defRPr>
            </a:pPr>
            <a:r>
              <a:rPr sz="1750" dirty="0">
                <a:latin typeface="Bell MT" panose="02020503060305020303" pitchFamily="18" charset="0"/>
              </a:rPr>
              <a:t>Cleaned, standardized </a:t>
            </a:r>
            <a:r>
              <a:rPr sz="1750" dirty="0" err="1">
                <a:latin typeface="Bell MT" panose="02020503060305020303" pitchFamily="18" charset="0"/>
              </a:rPr>
              <a:t>DataFrame</a:t>
            </a:r>
            <a:r>
              <a:rPr sz="1750" dirty="0">
                <a:latin typeface="Bell MT" panose="02020503060305020303" pitchFamily="18" charset="0"/>
              </a:rPr>
              <a:t> ready for SQL analysis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5715000"/>
            <a:ext cx="64008" cy="594360"/>
          </a:xfrm>
          <a:prstGeom prst="rect">
            <a:avLst/>
          </a:prstGeom>
          <a:solidFill>
            <a:srgbClr val="269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6711696"/>
            <a:ext cx="12191695" cy="18288"/>
          </a:xfrm>
          <a:prstGeom prst="rect">
            <a:avLst/>
          </a:prstGeom>
          <a:solidFill>
            <a:srgbClr val="DC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C30"/>
                </a:solidFill>
                <a:latin typeface="Aptos Display"/>
              </a:defRPr>
            </a:pPr>
            <a:r>
              <a:t>From Raw Data to Business Insights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828800"/>
            <a:ext cx="23317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tlCol="0" anchor="ctr"/>
          <a:lstStyle/>
          <a:p>
            <a:pPr algn="ctr">
              <a:defRPr sz="1200" b="1">
                <a:solidFill>
                  <a:srgbClr val="5F697D"/>
                </a:solidFill>
                <a:latin typeface="Aptos"/>
              </a:defRPr>
            </a:pPr>
            <a:r>
              <a:t>Python</a:t>
            </a:r>
          </a:p>
          <a:p>
            <a:pPr algn="ctr">
              <a:spcBef>
                <a:spcPts val="600"/>
              </a:spcBef>
              <a:defRPr sz="2500" b="1">
                <a:solidFill>
                  <a:srgbClr val="121C30"/>
                </a:solidFill>
                <a:latin typeface="Aptos Display"/>
              </a:defRPr>
            </a:pPr>
            <a:r>
              <a:t>Clean &amp; Transform</a:t>
            </a:r>
          </a:p>
          <a:p>
            <a:pPr algn="ctr">
              <a:spcBef>
                <a:spcPts val="500"/>
              </a:spcBef>
              <a:defRPr sz="1000">
                <a:solidFill>
                  <a:srgbClr val="5F697D"/>
                </a:solidFill>
                <a:latin typeface="Aptos"/>
              </a:defRPr>
            </a:pPr>
            <a:r>
              <a:t>Data cleaning • Missing values • Feature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828800"/>
            <a:ext cx="64008" cy="2103120"/>
          </a:xfrm>
          <a:prstGeom prst="rect">
            <a:avLst/>
          </a:prstGeom>
          <a:solidFill>
            <a:srgbClr val="37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57384" y="2514600"/>
            <a:ext cx="486030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5F697D"/>
                </a:solidFill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828800"/>
            <a:ext cx="23317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tlCol="0" anchor="ctr"/>
          <a:lstStyle/>
          <a:p>
            <a:pPr algn="ctr">
              <a:defRPr sz="1200" b="1">
                <a:solidFill>
                  <a:srgbClr val="5F697D"/>
                </a:solidFill>
                <a:latin typeface="Aptos"/>
              </a:defRPr>
            </a:pPr>
            <a:r>
              <a:t>PostgreSQL</a:t>
            </a:r>
          </a:p>
          <a:p>
            <a:pPr algn="ctr">
              <a:spcBef>
                <a:spcPts val="600"/>
              </a:spcBef>
              <a:defRPr sz="2500" b="1">
                <a:solidFill>
                  <a:srgbClr val="121C30"/>
                </a:solidFill>
                <a:latin typeface="Aptos Display"/>
              </a:defRPr>
            </a:pPr>
            <a:r>
              <a:t>Store &amp; Manage</a:t>
            </a:r>
          </a:p>
          <a:p>
            <a:pPr algn="ctr">
              <a:spcBef>
                <a:spcPts val="500"/>
              </a:spcBef>
              <a:defRPr sz="1000">
                <a:solidFill>
                  <a:srgbClr val="5F697D"/>
                </a:solidFill>
                <a:latin typeface="Aptos"/>
              </a:defRPr>
            </a:pPr>
            <a:r>
              <a:t>Cleaned structured dataset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828800"/>
            <a:ext cx="64008" cy="2103120"/>
          </a:xfrm>
          <a:prstGeom prst="rect">
            <a:avLst/>
          </a:prstGeom>
          <a:solidFill>
            <a:srgbClr val="70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37745" y="2514600"/>
            <a:ext cx="486030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5F697D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828800"/>
            <a:ext cx="23317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tlCol="0" anchor="ctr"/>
          <a:lstStyle/>
          <a:p>
            <a:pPr algn="ctr">
              <a:defRPr sz="1200" b="1">
                <a:solidFill>
                  <a:srgbClr val="5F697D"/>
                </a:solidFill>
                <a:latin typeface="Aptos"/>
              </a:defRPr>
            </a:pPr>
            <a:r>
              <a:t>SQL</a:t>
            </a:r>
          </a:p>
          <a:p>
            <a:pPr algn="ctr">
              <a:spcBef>
                <a:spcPts val="600"/>
              </a:spcBef>
              <a:defRPr sz="2500" b="1">
                <a:solidFill>
                  <a:srgbClr val="121C30"/>
                </a:solidFill>
                <a:latin typeface="Aptos Display"/>
              </a:defRPr>
            </a:pPr>
            <a:r>
              <a:t>Analyze</a:t>
            </a:r>
          </a:p>
          <a:p>
            <a:pPr algn="ctr">
              <a:spcBef>
                <a:spcPts val="500"/>
              </a:spcBef>
              <a:defRPr sz="1000">
                <a:solidFill>
                  <a:srgbClr val="5F697D"/>
                </a:solidFill>
                <a:latin typeface="Aptos"/>
              </a:defRPr>
            </a:pPr>
            <a:r>
              <a:t>Revenue • Products • Customers • Subscriptions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828800"/>
            <a:ext cx="64008" cy="2103120"/>
          </a:xfrm>
          <a:prstGeom prst="rect">
            <a:avLst/>
          </a:prstGeom>
          <a:solidFill>
            <a:srgbClr val="269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18105" y="2514600"/>
            <a:ext cx="486030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5F697D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828800"/>
            <a:ext cx="23317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tlCol="0" anchor="ctr"/>
          <a:lstStyle/>
          <a:p>
            <a:pPr algn="ctr">
              <a:defRPr sz="1200" b="1">
                <a:solidFill>
                  <a:srgbClr val="5F697D"/>
                </a:solidFill>
                <a:latin typeface="Aptos"/>
              </a:defRPr>
            </a:pPr>
            <a:r>
              <a:t>Power BI</a:t>
            </a:r>
          </a:p>
          <a:p>
            <a:pPr algn="ctr">
              <a:spcBef>
                <a:spcPts val="600"/>
              </a:spcBef>
              <a:defRPr sz="2500" b="1">
                <a:solidFill>
                  <a:srgbClr val="121C30"/>
                </a:solidFill>
                <a:latin typeface="Aptos Display"/>
              </a:defRPr>
            </a:pPr>
            <a:r>
              <a:t>Visualize</a:t>
            </a:r>
          </a:p>
          <a:p>
            <a:pPr algn="ctr">
              <a:spcBef>
                <a:spcPts val="500"/>
              </a:spcBef>
              <a:defRPr sz="1000">
                <a:solidFill>
                  <a:srgbClr val="5F697D"/>
                </a:solidFill>
                <a:latin typeface="Aptos"/>
              </a:defRPr>
            </a:pPr>
            <a:r>
              <a:t>KPIs • Charts • Interactive dashboard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1828800"/>
            <a:ext cx="64008" cy="2103120"/>
          </a:xfrm>
          <a:prstGeom prst="rect">
            <a:avLst/>
          </a:prstGeom>
          <a:solidFill>
            <a:srgbClr val="E88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94360" y="4709160"/>
            <a:ext cx="108813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tlCol="0" anchor="ctr"/>
          <a:lstStyle/>
          <a:p>
            <a:pPr algn="ctr">
              <a:defRPr sz="1200" b="1">
                <a:solidFill>
                  <a:srgbClr val="5F697D"/>
                </a:solidFill>
                <a:latin typeface="Aptos"/>
              </a:defRPr>
            </a:pPr>
            <a:r>
              <a:rPr sz="1600" dirty="0"/>
              <a:t>Workflow</a:t>
            </a:r>
          </a:p>
          <a:p>
            <a:pPr algn="ctr">
              <a:spcBef>
                <a:spcPts val="600"/>
              </a:spcBef>
              <a:defRPr sz="2500" b="1">
                <a:solidFill>
                  <a:srgbClr val="121C30"/>
                </a:solidFill>
                <a:latin typeface="Aptos Display"/>
              </a:defRPr>
            </a:pPr>
            <a:r>
              <a:rPr sz="1750" dirty="0">
                <a:latin typeface="Bell MT" panose="02020503060305020303" pitchFamily="18" charset="0"/>
              </a:rPr>
              <a:t>Python → PostgreSQL → SQL → Power BI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4709160"/>
            <a:ext cx="64008" cy="822960"/>
          </a:xfrm>
          <a:prstGeom prst="rect">
            <a:avLst/>
          </a:prstGeom>
          <a:solidFill>
            <a:srgbClr val="37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6711696"/>
            <a:ext cx="12191695" cy="18288"/>
          </a:xfrm>
          <a:prstGeom prst="rect">
            <a:avLst/>
          </a:prstGeom>
          <a:solidFill>
            <a:srgbClr val="DC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C30"/>
                </a:solidFill>
                <a:latin typeface="Aptos Display"/>
              </a:defRPr>
            </a:pPr>
            <a:r>
              <a:t>Business at a Glance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828800"/>
            <a:ext cx="20574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tlCol="0" anchor="ctr"/>
          <a:lstStyle/>
          <a:p>
            <a:pPr algn="ctr">
              <a:defRPr sz="1200" b="1">
                <a:solidFill>
                  <a:srgbClr val="5F697D"/>
                </a:solidFill>
                <a:latin typeface="Aptos"/>
              </a:defRPr>
            </a:pPr>
            <a:r>
              <a:t>Total Purchases</a:t>
            </a:r>
          </a:p>
          <a:p>
            <a:pPr algn="ctr">
              <a:spcBef>
                <a:spcPts val="600"/>
              </a:spcBef>
              <a:defRPr sz="2500" b="1">
                <a:solidFill>
                  <a:srgbClr val="121C30"/>
                </a:solidFill>
                <a:latin typeface="Aptos Display"/>
              </a:defRPr>
            </a:pPr>
            <a:r>
              <a:t>3.9K</a:t>
            </a:r>
          </a:p>
          <a:p>
            <a:pPr algn="ctr">
              <a:spcBef>
                <a:spcPts val="500"/>
              </a:spcBef>
              <a:defRPr sz="1000">
                <a:solidFill>
                  <a:srgbClr val="5F697D"/>
                </a:solidFill>
                <a:latin typeface="Aptos"/>
              </a:defRPr>
            </a:pPr>
            <a:r>
              <a:t>Records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828800"/>
            <a:ext cx="64008" cy="1874519"/>
          </a:xfrm>
          <a:prstGeom prst="rect">
            <a:avLst/>
          </a:prstGeom>
          <a:solidFill>
            <a:srgbClr val="37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834639" y="1828800"/>
            <a:ext cx="20574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tlCol="0" anchor="ctr"/>
          <a:lstStyle/>
          <a:p>
            <a:pPr algn="ctr">
              <a:defRPr sz="1200" b="1">
                <a:solidFill>
                  <a:srgbClr val="5F697D"/>
                </a:solidFill>
                <a:latin typeface="Aptos"/>
              </a:defRPr>
            </a:pPr>
            <a:r>
              <a:t>Average Purchase</a:t>
            </a:r>
          </a:p>
          <a:p>
            <a:pPr algn="ctr">
              <a:spcBef>
                <a:spcPts val="600"/>
              </a:spcBef>
              <a:defRPr sz="2500" b="1">
                <a:solidFill>
                  <a:srgbClr val="121C30"/>
                </a:solidFill>
                <a:latin typeface="Aptos Display"/>
              </a:defRPr>
            </a:pPr>
            <a:r>
              <a:t>$59.76</a:t>
            </a:r>
          </a:p>
          <a:p>
            <a:pPr algn="ctr">
              <a:spcBef>
                <a:spcPts val="500"/>
              </a:spcBef>
              <a:defRPr sz="1000">
                <a:solidFill>
                  <a:srgbClr val="5F697D"/>
                </a:solidFill>
                <a:latin typeface="Aptos"/>
              </a:defRPr>
            </a:pPr>
            <a:r>
              <a:t>Per transaction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4639" y="1828800"/>
            <a:ext cx="64008" cy="1874519"/>
          </a:xfrm>
          <a:prstGeom prst="rect">
            <a:avLst/>
          </a:prstGeom>
          <a:solidFill>
            <a:srgbClr val="70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166359" y="1828800"/>
            <a:ext cx="20574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tlCol="0" anchor="ctr"/>
          <a:lstStyle/>
          <a:p>
            <a:pPr algn="ctr">
              <a:defRPr sz="1200" b="1">
                <a:solidFill>
                  <a:srgbClr val="5F697D"/>
                </a:solidFill>
                <a:latin typeface="Aptos"/>
              </a:defRPr>
            </a:pPr>
            <a:r>
              <a:t>Average Rating</a:t>
            </a:r>
          </a:p>
          <a:p>
            <a:pPr algn="ctr">
              <a:spcBef>
                <a:spcPts val="600"/>
              </a:spcBef>
              <a:defRPr sz="2500" b="1">
                <a:solidFill>
                  <a:srgbClr val="121C30"/>
                </a:solidFill>
                <a:latin typeface="Aptos Display"/>
              </a:defRPr>
            </a:pPr>
            <a:r>
              <a:t>3.75</a:t>
            </a:r>
          </a:p>
          <a:p>
            <a:pPr algn="ctr">
              <a:spcBef>
                <a:spcPts val="500"/>
              </a:spcBef>
              <a:defRPr sz="1000">
                <a:solidFill>
                  <a:srgbClr val="5F697D"/>
                </a:solidFill>
                <a:latin typeface="Aptos"/>
              </a:defRPr>
            </a:pPr>
            <a:r>
              <a:t>Customer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5166359" y="1828800"/>
            <a:ext cx="64008" cy="1874519"/>
          </a:xfrm>
          <a:prstGeom prst="rect">
            <a:avLst/>
          </a:prstGeom>
          <a:solidFill>
            <a:srgbClr val="269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498079" y="1828800"/>
            <a:ext cx="20574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tlCol="0" anchor="ctr"/>
          <a:lstStyle/>
          <a:p>
            <a:pPr algn="ctr">
              <a:defRPr sz="1200" b="1">
                <a:solidFill>
                  <a:srgbClr val="5F697D"/>
                </a:solidFill>
                <a:latin typeface="Aptos"/>
              </a:defRPr>
            </a:pPr>
            <a:r>
              <a:t>Subscribers</a:t>
            </a:r>
          </a:p>
          <a:p>
            <a:pPr algn="ctr">
              <a:spcBef>
                <a:spcPts val="600"/>
              </a:spcBef>
              <a:defRPr sz="2500" b="1">
                <a:solidFill>
                  <a:srgbClr val="121C30"/>
                </a:solidFill>
                <a:latin typeface="Aptos Display"/>
              </a:defRPr>
            </a:pPr>
            <a:r>
              <a:t>27%</a:t>
            </a:r>
          </a:p>
          <a:p>
            <a:pPr algn="ctr">
              <a:spcBef>
                <a:spcPts val="500"/>
              </a:spcBef>
              <a:defRPr sz="1000">
                <a:solidFill>
                  <a:srgbClr val="5F697D"/>
                </a:solidFill>
                <a:latin typeface="Aptos"/>
              </a:defRPr>
            </a:pPr>
            <a:r>
              <a:t>1,053 records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1828800"/>
            <a:ext cx="64008" cy="1874519"/>
          </a:xfrm>
          <a:prstGeom prst="rect">
            <a:avLst/>
          </a:prstGeom>
          <a:solidFill>
            <a:srgbClr val="E88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829800" y="1828800"/>
            <a:ext cx="20574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tlCol="0" anchor="ctr"/>
          <a:lstStyle/>
          <a:p>
            <a:pPr algn="ctr">
              <a:defRPr sz="1200" b="1">
                <a:solidFill>
                  <a:srgbClr val="5F697D"/>
                </a:solidFill>
                <a:latin typeface="Aptos"/>
              </a:defRPr>
            </a:pPr>
            <a:r>
              <a:t>Non-Subscribers</a:t>
            </a:r>
          </a:p>
          <a:p>
            <a:pPr algn="ctr">
              <a:spcBef>
                <a:spcPts val="600"/>
              </a:spcBef>
              <a:defRPr sz="2500" b="1">
                <a:solidFill>
                  <a:srgbClr val="121C30"/>
                </a:solidFill>
                <a:latin typeface="Aptos Display"/>
              </a:defRPr>
            </a:pPr>
            <a:r>
              <a:t>73%</a:t>
            </a:r>
          </a:p>
          <a:p>
            <a:pPr algn="ctr">
              <a:spcBef>
                <a:spcPts val="500"/>
              </a:spcBef>
              <a:defRPr sz="1000">
                <a:solidFill>
                  <a:srgbClr val="5F697D"/>
                </a:solidFill>
                <a:latin typeface="Aptos"/>
              </a:defRPr>
            </a:pPr>
            <a:r>
              <a:t>2,847 records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29800" y="1828800"/>
            <a:ext cx="64008" cy="1874519"/>
          </a:xfrm>
          <a:prstGeom prst="rect">
            <a:avLst/>
          </a:prstGeom>
          <a:solidFill>
            <a:srgbClr val="CA4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31520" y="4343400"/>
            <a:ext cx="10698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tlCol="0" anchor="ctr"/>
          <a:lstStyle/>
          <a:p>
            <a:pPr algn="ctr">
              <a:defRPr sz="1200" b="1">
                <a:solidFill>
                  <a:srgbClr val="5F697D"/>
                </a:solidFill>
                <a:latin typeface="Aptos"/>
              </a:defRPr>
            </a:pPr>
            <a:r>
              <a:rPr sz="1600" dirty="0"/>
              <a:t>Headline</a:t>
            </a:r>
          </a:p>
          <a:p>
            <a:pPr algn="ctr">
              <a:spcBef>
                <a:spcPts val="600"/>
              </a:spcBef>
              <a:defRPr sz="2500" b="1">
                <a:solidFill>
                  <a:srgbClr val="121C30"/>
                </a:solidFill>
                <a:latin typeface="Aptos Display"/>
              </a:defRPr>
            </a:pPr>
            <a:r>
              <a:rPr sz="1750" dirty="0">
                <a:latin typeface="Bell MT" panose="02020503060305020303" pitchFamily="18" charset="0"/>
              </a:rPr>
              <a:t>Stable average spending, positive ratings and a large opportunity to increase subscription adoption.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343400"/>
            <a:ext cx="64008" cy="914400"/>
          </a:xfrm>
          <a:prstGeom prst="rect">
            <a:avLst/>
          </a:prstGeom>
          <a:solidFill>
            <a:srgbClr val="37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6711696"/>
            <a:ext cx="12191695" cy="18288"/>
          </a:xfrm>
          <a:prstGeom prst="rect">
            <a:avLst/>
          </a:prstGeom>
          <a:solidFill>
            <a:srgbClr val="DC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C30"/>
                </a:solidFill>
                <a:latin typeface="Aptos Display"/>
              </a:defRPr>
            </a:pPr>
            <a:r>
              <a:t>Revenue &amp; Category Performance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5971457"/>
              </p:ext>
            </p:extLst>
          </p:nvPr>
        </p:nvGraphicFramePr>
        <p:xfrm>
          <a:off x="594360" y="1325880"/>
          <a:ext cx="64008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315200" y="1417320"/>
            <a:ext cx="40233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tlCol="0" anchor="ctr"/>
          <a:lstStyle/>
          <a:p>
            <a:pPr algn="ctr">
              <a:defRPr sz="1200" b="1">
                <a:solidFill>
                  <a:srgbClr val="5F697D"/>
                </a:solidFill>
                <a:latin typeface="Aptos"/>
              </a:defRPr>
            </a:pPr>
            <a:r>
              <a:rPr dirty="0"/>
              <a:t>Clothing</a:t>
            </a:r>
          </a:p>
          <a:p>
            <a:pPr algn="ctr">
              <a:spcBef>
                <a:spcPts val="600"/>
              </a:spcBef>
              <a:defRPr sz="2500" b="1">
                <a:solidFill>
                  <a:srgbClr val="121C30"/>
                </a:solidFill>
                <a:latin typeface="Aptos Display"/>
              </a:defRPr>
            </a:pPr>
            <a:r>
              <a:rPr dirty="0"/>
              <a:t>$104,264</a:t>
            </a:r>
          </a:p>
          <a:p>
            <a:pPr algn="ctr">
              <a:spcBef>
                <a:spcPts val="500"/>
              </a:spcBef>
              <a:defRPr sz="1000">
                <a:solidFill>
                  <a:srgbClr val="5F697D"/>
                </a:solidFill>
                <a:latin typeface="Aptos"/>
              </a:defRPr>
            </a:pPr>
            <a:r>
              <a:rPr dirty="0"/>
              <a:t>44.7% of revenue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1417320"/>
            <a:ext cx="64008" cy="1508760"/>
          </a:xfrm>
          <a:prstGeom prst="rect">
            <a:avLst/>
          </a:prstGeom>
          <a:solidFill>
            <a:srgbClr val="37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0" y="3108960"/>
            <a:ext cx="40233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tlCol="0" anchor="ctr"/>
          <a:lstStyle/>
          <a:p>
            <a:pPr algn="ctr">
              <a:defRPr sz="1200" b="1">
                <a:solidFill>
                  <a:srgbClr val="5F697D"/>
                </a:solidFill>
                <a:latin typeface="Aptos"/>
              </a:defRPr>
            </a:pPr>
            <a:r>
              <a:t>Accessories</a:t>
            </a:r>
          </a:p>
          <a:p>
            <a:pPr algn="ctr">
              <a:spcBef>
                <a:spcPts val="600"/>
              </a:spcBef>
              <a:defRPr sz="2500" b="1">
                <a:solidFill>
                  <a:srgbClr val="121C30"/>
                </a:solidFill>
                <a:latin typeface="Aptos Display"/>
              </a:defRPr>
            </a:pPr>
            <a:r>
              <a:t>$74,200</a:t>
            </a:r>
          </a:p>
          <a:p>
            <a:pPr algn="ctr">
              <a:spcBef>
                <a:spcPts val="500"/>
              </a:spcBef>
              <a:defRPr sz="1000">
                <a:solidFill>
                  <a:srgbClr val="5F697D"/>
                </a:solidFill>
                <a:latin typeface="Aptos"/>
              </a:defRPr>
            </a:pPr>
            <a:r>
              <a:t>31.8% of revenue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0" y="3108960"/>
            <a:ext cx="64008" cy="1508760"/>
          </a:xfrm>
          <a:prstGeom prst="rect">
            <a:avLst/>
          </a:prstGeom>
          <a:solidFill>
            <a:srgbClr val="70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0" y="4800600"/>
            <a:ext cx="40233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tlCol="0" anchor="ctr"/>
          <a:lstStyle/>
          <a:p>
            <a:pPr algn="ctr">
              <a:defRPr sz="1200" b="1">
                <a:solidFill>
                  <a:srgbClr val="5F697D"/>
                </a:solidFill>
                <a:latin typeface="Aptos"/>
              </a:defRPr>
            </a:pPr>
            <a:r>
              <a:rPr sz="1600" dirty="0"/>
              <a:t>Key Insight</a:t>
            </a:r>
          </a:p>
          <a:p>
            <a:pPr algn="ctr">
              <a:spcBef>
                <a:spcPts val="600"/>
              </a:spcBef>
              <a:defRPr sz="2500" b="1">
                <a:solidFill>
                  <a:srgbClr val="121C30"/>
                </a:solidFill>
                <a:latin typeface="Aptos Display"/>
              </a:defRPr>
            </a:pPr>
            <a:r>
              <a:rPr sz="1750" dirty="0">
                <a:latin typeface="Bell MT" panose="02020503060305020303" pitchFamily="18" charset="0"/>
              </a:rPr>
              <a:t>Clothing + Accessories ≈ 77% of total revenue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4800600"/>
            <a:ext cx="64008" cy="914400"/>
          </a:xfrm>
          <a:prstGeom prst="rect">
            <a:avLst/>
          </a:prstGeom>
          <a:solidFill>
            <a:srgbClr val="269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6711696"/>
            <a:ext cx="12191695" cy="18288"/>
          </a:xfrm>
          <a:prstGeom prst="rect">
            <a:avLst/>
          </a:prstGeom>
          <a:solidFill>
            <a:srgbClr val="DC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C30"/>
                </a:solidFill>
                <a:latin typeface="Aptos Display"/>
              </a:defRPr>
            </a:pPr>
            <a:r>
              <a:t>Subscription &amp; Customer Loyalty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8016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tlCol="0" anchor="ctr"/>
          <a:lstStyle/>
          <a:p>
            <a:pPr algn="ctr">
              <a:defRPr sz="1200" b="1">
                <a:solidFill>
                  <a:srgbClr val="5F697D"/>
                </a:solidFill>
                <a:latin typeface="Aptos"/>
              </a:defRPr>
            </a:pPr>
            <a:r>
              <a:t>Subscribers</a:t>
            </a:r>
          </a:p>
          <a:p>
            <a:pPr algn="ctr">
              <a:spcBef>
                <a:spcPts val="600"/>
              </a:spcBef>
              <a:defRPr sz="2500" b="1">
                <a:solidFill>
                  <a:srgbClr val="121C30"/>
                </a:solidFill>
                <a:latin typeface="Aptos Display"/>
              </a:defRPr>
            </a:pPr>
            <a:r>
              <a:t>1,053</a:t>
            </a:r>
          </a:p>
          <a:p>
            <a:pPr algn="ctr">
              <a:spcBef>
                <a:spcPts val="500"/>
              </a:spcBef>
              <a:defRPr sz="1000">
                <a:solidFill>
                  <a:srgbClr val="5F697D"/>
                </a:solidFill>
                <a:latin typeface="Aptos"/>
              </a:defRPr>
            </a:pPr>
            <a:r>
              <a:t>27%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64008" cy="1417320"/>
          </a:xfrm>
          <a:prstGeom prst="rect">
            <a:avLst/>
          </a:prstGeom>
          <a:solidFill>
            <a:srgbClr val="37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246120" y="128016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tlCol="0" anchor="ctr"/>
          <a:lstStyle/>
          <a:p>
            <a:pPr algn="ctr">
              <a:defRPr sz="1200" b="1">
                <a:solidFill>
                  <a:srgbClr val="5F697D"/>
                </a:solidFill>
                <a:latin typeface="Aptos"/>
              </a:defRPr>
            </a:pPr>
            <a:r>
              <a:t>Non-Subscribers</a:t>
            </a:r>
          </a:p>
          <a:p>
            <a:pPr algn="ctr">
              <a:spcBef>
                <a:spcPts val="600"/>
              </a:spcBef>
              <a:defRPr sz="2500" b="1">
                <a:solidFill>
                  <a:srgbClr val="121C30"/>
                </a:solidFill>
                <a:latin typeface="Aptos Display"/>
              </a:defRPr>
            </a:pPr>
            <a:r>
              <a:t>2,847</a:t>
            </a:r>
          </a:p>
          <a:p>
            <a:pPr algn="ctr">
              <a:spcBef>
                <a:spcPts val="500"/>
              </a:spcBef>
              <a:defRPr sz="1000">
                <a:solidFill>
                  <a:srgbClr val="5F697D"/>
                </a:solidFill>
                <a:latin typeface="Aptos"/>
              </a:defRPr>
            </a:pPr>
            <a:r>
              <a:t>73%</a:t>
            </a:r>
          </a:p>
        </p:txBody>
      </p:sp>
      <p:sp>
        <p:nvSpPr>
          <p:cNvPr id="6" name="Rectangle 5"/>
          <p:cNvSpPr/>
          <p:nvPr/>
        </p:nvSpPr>
        <p:spPr>
          <a:xfrm>
            <a:off x="3246120" y="1280160"/>
            <a:ext cx="64008" cy="1417320"/>
          </a:xfrm>
          <a:prstGeom prst="rect">
            <a:avLst/>
          </a:prstGeom>
          <a:solidFill>
            <a:srgbClr val="70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897880" y="128016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tlCol="0" anchor="ctr"/>
          <a:lstStyle/>
          <a:p>
            <a:pPr algn="ctr">
              <a:defRPr sz="1200" b="1">
                <a:solidFill>
                  <a:srgbClr val="5F697D"/>
                </a:solidFill>
                <a:latin typeface="Aptos"/>
              </a:defRPr>
            </a:pPr>
            <a:r>
              <a:t>Subscriber Avg Spend</a:t>
            </a:r>
          </a:p>
          <a:p>
            <a:pPr algn="ctr">
              <a:spcBef>
                <a:spcPts val="600"/>
              </a:spcBef>
              <a:defRPr sz="2500" b="1">
                <a:solidFill>
                  <a:srgbClr val="121C30"/>
                </a:solidFill>
                <a:latin typeface="Aptos Display"/>
              </a:defRPr>
            </a:pPr>
            <a:r>
              <a:t>$59.49</a:t>
            </a:r>
          </a:p>
          <a:p>
            <a:pPr algn="ctr">
              <a:spcBef>
                <a:spcPts val="500"/>
              </a:spcBef>
              <a:defRPr sz="1000">
                <a:solidFill>
                  <a:srgbClr val="5F697D"/>
                </a:solidFill>
                <a:latin typeface="Aptos"/>
              </a:defRPr>
            </a:pPr>
            <a:r>
              <a:t>Per purchase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897880" y="1280160"/>
            <a:ext cx="64008" cy="1417320"/>
          </a:xfrm>
          <a:prstGeom prst="rect">
            <a:avLst/>
          </a:prstGeom>
          <a:solidFill>
            <a:srgbClr val="269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549640" y="128016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tlCol="0" anchor="ctr"/>
          <a:lstStyle/>
          <a:p>
            <a:pPr algn="ctr">
              <a:defRPr sz="1200" b="1">
                <a:solidFill>
                  <a:srgbClr val="5F697D"/>
                </a:solidFill>
                <a:latin typeface="Aptos"/>
              </a:defRPr>
            </a:pPr>
            <a:r>
              <a:t>Non-Subscriber Avg Spend</a:t>
            </a:r>
          </a:p>
          <a:p>
            <a:pPr algn="ctr">
              <a:spcBef>
                <a:spcPts val="600"/>
              </a:spcBef>
              <a:defRPr sz="2500" b="1">
                <a:solidFill>
                  <a:srgbClr val="121C30"/>
                </a:solidFill>
                <a:latin typeface="Aptos Display"/>
              </a:defRPr>
            </a:pPr>
            <a:r>
              <a:t>$59.87</a:t>
            </a:r>
          </a:p>
          <a:p>
            <a:pPr algn="ctr">
              <a:spcBef>
                <a:spcPts val="500"/>
              </a:spcBef>
              <a:defRPr sz="1000">
                <a:solidFill>
                  <a:srgbClr val="5F697D"/>
                </a:solidFill>
                <a:latin typeface="Aptos"/>
              </a:defRPr>
            </a:pPr>
            <a:r>
              <a:t>Per purchase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49640" y="1280160"/>
            <a:ext cx="64008" cy="1417320"/>
          </a:xfrm>
          <a:prstGeom prst="rect">
            <a:avLst/>
          </a:prstGeom>
          <a:solidFill>
            <a:srgbClr val="E88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1" name="Char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5208096"/>
              </p:ext>
            </p:extLst>
          </p:nvPr>
        </p:nvGraphicFramePr>
        <p:xfrm>
          <a:off x="594360" y="3063240"/>
          <a:ext cx="5501640" cy="3022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400800" y="3154680"/>
            <a:ext cx="45720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tlCol="0" anchor="ctr"/>
          <a:lstStyle/>
          <a:p>
            <a:pPr algn="ctr">
              <a:defRPr sz="1200" b="1">
                <a:solidFill>
                  <a:srgbClr val="5F697D"/>
                </a:solidFill>
                <a:latin typeface="Aptos"/>
              </a:defRPr>
            </a:pPr>
            <a:r>
              <a:rPr dirty="0"/>
              <a:t>Repeat Buyers (&gt;5 purchases)</a:t>
            </a:r>
          </a:p>
          <a:p>
            <a:pPr algn="ctr">
              <a:spcBef>
                <a:spcPts val="600"/>
              </a:spcBef>
              <a:defRPr sz="2500" b="1">
                <a:solidFill>
                  <a:srgbClr val="121C30"/>
                </a:solidFill>
                <a:latin typeface="Aptos Display"/>
              </a:defRPr>
            </a:pPr>
            <a:r>
              <a:rPr dirty="0"/>
              <a:t>3,476</a:t>
            </a:r>
          </a:p>
          <a:p>
            <a:pPr algn="ctr">
              <a:spcBef>
                <a:spcPts val="500"/>
              </a:spcBef>
              <a:defRPr sz="1000">
                <a:solidFill>
                  <a:srgbClr val="5F697D"/>
                </a:solidFill>
                <a:latin typeface="Aptos"/>
              </a:defRPr>
            </a:pPr>
            <a:r>
              <a:rPr dirty="0"/>
              <a:t>2,518 non-subscribers • 958 subscribers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3154680"/>
            <a:ext cx="64008" cy="1280160"/>
          </a:xfrm>
          <a:prstGeom prst="rect">
            <a:avLst/>
          </a:prstGeom>
          <a:solidFill>
            <a:srgbClr val="37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00800" y="4617720"/>
            <a:ext cx="4572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tlCol="0" anchor="ctr"/>
          <a:lstStyle/>
          <a:p>
            <a:pPr algn="ctr">
              <a:defRPr sz="1200" b="1">
                <a:solidFill>
                  <a:srgbClr val="5F697D"/>
                </a:solidFill>
                <a:latin typeface="Aptos"/>
              </a:defRPr>
            </a:pPr>
            <a:r>
              <a:rPr sz="1600" dirty="0"/>
              <a:t>Key Insight</a:t>
            </a:r>
          </a:p>
          <a:p>
            <a:pPr algn="ctr">
              <a:spcBef>
                <a:spcPts val="600"/>
              </a:spcBef>
              <a:defRPr sz="2500" b="1">
                <a:solidFill>
                  <a:srgbClr val="121C30"/>
                </a:solidFill>
                <a:latin typeface="Aptos Display"/>
              </a:defRPr>
            </a:pPr>
            <a:r>
              <a:rPr sz="1750" dirty="0">
                <a:latin typeface="Bell MT" panose="02020503060305020303" pitchFamily="18" charset="0"/>
              </a:rPr>
              <a:t>Repeat buyers are a strong audience for subscription offers.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4617720"/>
            <a:ext cx="64008" cy="1143000"/>
          </a:xfrm>
          <a:prstGeom prst="rect">
            <a:avLst/>
          </a:prstGeom>
          <a:solidFill>
            <a:srgbClr val="70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6711696"/>
            <a:ext cx="12191695" cy="18288"/>
          </a:xfrm>
          <a:prstGeom prst="rect">
            <a:avLst/>
          </a:prstGeom>
          <a:solidFill>
            <a:srgbClr val="DC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C30"/>
                </a:solidFill>
                <a:latin typeface="Aptos Display"/>
              </a:defRPr>
            </a:pPr>
            <a:r>
              <a:t>Products, Ratings &amp; Discounts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1062727"/>
              </p:ext>
            </p:extLst>
          </p:nvPr>
        </p:nvGraphicFramePr>
        <p:xfrm>
          <a:off x="502920" y="1325880"/>
          <a:ext cx="53949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7682796"/>
              </p:ext>
            </p:extLst>
          </p:nvPr>
        </p:nvGraphicFramePr>
        <p:xfrm>
          <a:off x="6263640" y="1325880"/>
          <a:ext cx="53949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85800" y="5852160"/>
            <a:ext cx="5029200" cy="722376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tlCol="0" anchor="ctr"/>
          <a:lstStyle/>
          <a:p>
            <a:pPr algn="ctr">
              <a:defRPr sz="1200" b="1">
                <a:solidFill>
                  <a:srgbClr val="5F697D"/>
                </a:solidFill>
                <a:latin typeface="Aptos"/>
              </a:defRPr>
            </a:pPr>
            <a:r>
              <a:rPr dirty="0"/>
              <a:t>Rating Insight</a:t>
            </a:r>
          </a:p>
          <a:p>
            <a:pPr algn="ctr">
              <a:spcBef>
                <a:spcPts val="600"/>
              </a:spcBef>
              <a:defRPr sz="2500" b="1">
                <a:solidFill>
                  <a:srgbClr val="121C30"/>
                </a:solidFill>
                <a:latin typeface="Aptos Display"/>
              </a:defRPr>
            </a:pPr>
            <a:r>
              <a:rPr sz="1750" dirty="0">
                <a:latin typeface="Bell MT" panose="02020503060305020303" pitchFamily="18" charset="0"/>
              </a:rPr>
              <a:t>Gloves lead with a 3.86 average rating.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5852160"/>
            <a:ext cx="64008" cy="502920"/>
          </a:xfrm>
          <a:prstGeom prst="rect">
            <a:avLst/>
          </a:prstGeom>
          <a:solidFill>
            <a:srgbClr val="269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46520" y="5852160"/>
            <a:ext cx="5029200" cy="722376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tlCol="0" anchor="ctr"/>
          <a:lstStyle/>
          <a:p>
            <a:pPr algn="ctr">
              <a:defRPr sz="1200" b="1">
                <a:solidFill>
                  <a:srgbClr val="5F697D"/>
                </a:solidFill>
                <a:latin typeface="Aptos"/>
              </a:defRPr>
            </a:pPr>
            <a:r>
              <a:rPr dirty="0"/>
              <a:t>Discount Insight</a:t>
            </a:r>
          </a:p>
          <a:p>
            <a:pPr algn="ctr">
              <a:spcBef>
                <a:spcPts val="600"/>
              </a:spcBef>
              <a:defRPr sz="2500" b="1">
                <a:solidFill>
                  <a:srgbClr val="121C30"/>
                </a:solidFill>
                <a:latin typeface="Aptos Display"/>
              </a:defRPr>
            </a:pPr>
            <a:r>
              <a:rPr sz="1750" dirty="0">
                <a:latin typeface="Bell MT" panose="02020503060305020303" pitchFamily="18" charset="0"/>
              </a:rPr>
              <a:t>Hat has the highest discount rate at 50%.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5852160"/>
            <a:ext cx="64008" cy="502920"/>
          </a:xfrm>
          <a:prstGeom prst="rect">
            <a:avLst/>
          </a:prstGeom>
          <a:solidFill>
            <a:srgbClr val="E88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711696"/>
            <a:ext cx="12191695" cy="18288"/>
          </a:xfrm>
          <a:prstGeom prst="rect">
            <a:avLst/>
          </a:prstGeom>
          <a:solidFill>
            <a:srgbClr val="DC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C30"/>
                </a:solidFill>
                <a:latin typeface="Aptos Display"/>
              </a:defRPr>
            </a:pPr>
            <a:r>
              <a:t>Customer Demographics &amp; Shipping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588989"/>
              </p:ext>
            </p:extLst>
          </p:nvPr>
        </p:nvGraphicFramePr>
        <p:xfrm>
          <a:off x="502920" y="1325880"/>
          <a:ext cx="55778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6400800" y="1417320"/>
            <a:ext cx="2240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tlCol="0" anchor="ctr"/>
          <a:lstStyle/>
          <a:p>
            <a:pPr algn="ctr">
              <a:defRPr sz="1200" b="1">
                <a:solidFill>
                  <a:srgbClr val="5F697D"/>
                </a:solidFill>
                <a:latin typeface="Aptos"/>
              </a:defRPr>
            </a:pPr>
            <a:r>
              <a:t>Express</a:t>
            </a:r>
          </a:p>
          <a:p>
            <a:pPr algn="ctr">
              <a:spcBef>
                <a:spcPts val="600"/>
              </a:spcBef>
              <a:defRPr sz="2500" b="1">
                <a:solidFill>
                  <a:srgbClr val="121C30"/>
                </a:solidFill>
                <a:latin typeface="Aptos Display"/>
              </a:defRPr>
            </a:pPr>
            <a:r>
              <a:t>$60.48</a:t>
            </a:r>
          </a:p>
          <a:p>
            <a:pPr algn="ctr">
              <a:spcBef>
                <a:spcPts val="500"/>
              </a:spcBef>
              <a:defRPr sz="1000">
                <a:solidFill>
                  <a:srgbClr val="5F697D"/>
                </a:solidFill>
                <a:latin typeface="Aptos"/>
              </a:defRPr>
            </a:pPr>
            <a:r>
              <a:t>Average purchase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417320"/>
            <a:ext cx="64008" cy="1600200"/>
          </a:xfrm>
          <a:prstGeom prst="rect">
            <a:avLst/>
          </a:prstGeom>
          <a:solidFill>
            <a:srgbClr val="37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915400" y="1417320"/>
            <a:ext cx="2240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tlCol="0" anchor="ctr"/>
          <a:lstStyle/>
          <a:p>
            <a:pPr algn="ctr">
              <a:defRPr sz="1200" b="1">
                <a:solidFill>
                  <a:srgbClr val="5F697D"/>
                </a:solidFill>
                <a:latin typeface="Aptos"/>
              </a:defRPr>
            </a:pPr>
            <a:r>
              <a:t>Standard</a:t>
            </a:r>
          </a:p>
          <a:p>
            <a:pPr algn="ctr">
              <a:spcBef>
                <a:spcPts val="600"/>
              </a:spcBef>
              <a:defRPr sz="2500" b="1">
                <a:solidFill>
                  <a:srgbClr val="121C30"/>
                </a:solidFill>
                <a:latin typeface="Aptos Display"/>
              </a:defRPr>
            </a:pPr>
            <a:r>
              <a:t>$58.46</a:t>
            </a:r>
          </a:p>
          <a:p>
            <a:pPr algn="ctr">
              <a:spcBef>
                <a:spcPts val="500"/>
              </a:spcBef>
              <a:defRPr sz="1000">
                <a:solidFill>
                  <a:srgbClr val="5F697D"/>
                </a:solidFill>
                <a:latin typeface="Aptos"/>
              </a:defRPr>
            </a:pPr>
            <a:r>
              <a:t>Average purchase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8915400" y="1417320"/>
            <a:ext cx="64008" cy="1600200"/>
          </a:xfrm>
          <a:prstGeom prst="rect">
            <a:avLst/>
          </a:prstGeom>
          <a:solidFill>
            <a:srgbClr val="70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32804" y="3493008"/>
            <a:ext cx="4754880" cy="1060901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tlCol="0" anchor="ctr"/>
          <a:lstStyle/>
          <a:p>
            <a:pPr algn="ctr">
              <a:defRPr sz="1200" b="1">
                <a:solidFill>
                  <a:srgbClr val="5F697D"/>
                </a:solidFill>
                <a:latin typeface="Aptos"/>
              </a:defRPr>
            </a:pPr>
            <a:r>
              <a:rPr dirty="0"/>
              <a:t>.</a:t>
            </a:r>
            <a:r>
              <a:rPr lang="en-US" dirty="0"/>
              <a:t> Age Insight</a:t>
            </a:r>
          </a:p>
          <a:p>
            <a:pPr algn="ctr">
              <a:spcBef>
                <a:spcPts val="600"/>
              </a:spcBef>
              <a:defRPr sz="2500" b="1">
                <a:solidFill>
                  <a:srgbClr val="121C30"/>
                </a:solidFill>
                <a:latin typeface="Aptos Display"/>
              </a:defRPr>
            </a:pPr>
            <a:r>
              <a:rPr lang="en-US" sz="1750" dirty="0">
                <a:latin typeface="Bell MT" panose="02020503060305020303" pitchFamily="18" charset="0"/>
              </a:rPr>
              <a:t>Revenue is relatively balanced across age groups; Young Adults contribute the most</a:t>
            </a:r>
            <a:endParaRPr sz="1750" dirty="0">
              <a:latin typeface="Bell MT" panose="02020503060305020303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00800" y="3383280"/>
            <a:ext cx="64008" cy="1325880"/>
          </a:xfrm>
          <a:prstGeom prst="rect">
            <a:avLst/>
          </a:prstGeom>
          <a:solidFill>
            <a:srgbClr val="269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0" y="4818888"/>
            <a:ext cx="4754880" cy="1060901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tlCol="0" anchor="ctr"/>
          <a:lstStyle/>
          <a:p>
            <a:pPr algn="ctr">
              <a:defRPr sz="1200" b="1">
                <a:solidFill>
                  <a:srgbClr val="5F697D"/>
                </a:solidFill>
                <a:latin typeface="Aptos"/>
              </a:defRPr>
            </a:pPr>
            <a:r>
              <a:rPr dirty="0"/>
              <a:t>Shipping Insight</a:t>
            </a:r>
          </a:p>
          <a:p>
            <a:pPr algn="ctr">
              <a:spcBef>
                <a:spcPts val="600"/>
              </a:spcBef>
              <a:defRPr sz="2500" b="1">
                <a:solidFill>
                  <a:srgbClr val="121C30"/>
                </a:solidFill>
                <a:latin typeface="Aptos Display"/>
              </a:defRPr>
            </a:pPr>
            <a:r>
              <a:rPr sz="1750" dirty="0">
                <a:latin typeface="Bell MT" panose="02020503060305020303" pitchFamily="18" charset="0"/>
              </a:rPr>
              <a:t>Express customers show a slightly higher average purchase value.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4892040"/>
            <a:ext cx="64008" cy="914400"/>
          </a:xfrm>
          <a:prstGeom prst="rect">
            <a:avLst/>
          </a:prstGeom>
          <a:solidFill>
            <a:srgbClr val="E88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6711696"/>
            <a:ext cx="12191695" cy="18288"/>
          </a:xfrm>
          <a:prstGeom prst="rect">
            <a:avLst/>
          </a:prstGeom>
          <a:solidFill>
            <a:srgbClr val="DC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C30"/>
                </a:solidFill>
                <a:latin typeface="Aptos Display"/>
              </a:defRPr>
            </a:pPr>
            <a:r>
              <a:t>Business Recommendations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32588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77240" y="1554480"/>
            <a:ext cx="457200" cy="457200"/>
          </a:xfrm>
          <a:prstGeom prst="ellipse">
            <a:avLst/>
          </a:prstGeom>
          <a:solidFill>
            <a:srgbClr val="37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7612" y="1508760"/>
            <a:ext cx="251113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21C30"/>
                </a:solidFill>
              </a:defRPr>
            </a:pPr>
            <a:r>
              <a:t>Increase Subscription Adoption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9251" y="2148840"/>
            <a:ext cx="3127779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5F697D"/>
                </a:solidFill>
              </a:defRPr>
            </a:pPr>
            <a:r>
              <a:t>Give regular customers stronger reasons to subscribe.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32588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617720" y="1554480"/>
            <a:ext cx="457200" cy="457200"/>
          </a:xfrm>
          <a:prstGeom prst="ellipse">
            <a:avLst/>
          </a:prstGeom>
          <a:solidFill>
            <a:srgbClr val="70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48292" y="1508760"/>
            <a:ext cx="175073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21C30"/>
                </a:solidFill>
              </a:defRPr>
            </a:pPr>
            <a:r>
              <a:t>Target Repeat Buyers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8284" y="2148840"/>
            <a:ext cx="3390672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5F697D"/>
                </a:solidFill>
              </a:defRPr>
            </a:pPr>
            <a:r>
              <a:t>Use repeat engagement to identify subscription prospects.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32588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458200" y="1554480"/>
            <a:ext cx="457200" cy="457200"/>
          </a:xfrm>
          <a:prstGeom prst="ellipse">
            <a:avLst/>
          </a:prstGeom>
          <a:solidFill>
            <a:srgbClr val="E88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27830" y="1508760"/>
            <a:ext cx="207261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21C30"/>
                </a:solidFill>
              </a:defRPr>
            </a:pPr>
            <a:r>
              <a:t>Review Discount Strategy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12220" y="2148840"/>
            <a:ext cx="2263760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5F697D"/>
                </a:solidFill>
              </a:defRPr>
            </a:pPr>
            <a:r>
              <a:t>Monitor discounts to protect margins.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56616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77240" y="3794760"/>
            <a:ext cx="457200" cy="457200"/>
          </a:xfrm>
          <a:prstGeom prst="ellipse">
            <a:avLst/>
          </a:prstGeom>
          <a:solidFill>
            <a:srgbClr val="269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8067" y="3749040"/>
            <a:ext cx="199022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21C30"/>
                </a:solidFill>
              </a:defRPr>
            </a:pPr>
            <a:r>
              <a:t>Prioritize Key Categories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794" y="4389120"/>
            <a:ext cx="2760692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5F697D"/>
                </a:solidFill>
              </a:defRPr>
            </a:pPr>
            <a:r>
              <a:t>Continue focusing on Clothing and Accessories.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356616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617720" y="3794760"/>
            <a:ext cx="457200" cy="457200"/>
          </a:xfrm>
          <a:prstGeom prst="ellipse">
            <a:avLst/>
          </a:prstGeom>
          <a:solidFill>
            <a:srgbClr val="37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63054" y="3749040"/>
            <a:ext cx="232121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21C30"/>
                </a:solidFill>
              </a:defRPr>
            </a:pPr>
            <a:r>
              <a:t>Promote Top-Rated Products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94608" y="4389120"/>
            <a:ext cx="2618024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5F697D"/>
                </a:solidFill>
              </a:defRPr>
            </a:pPr>
            <a:r>
              <a:t>Use positive ratings in marketing campaigns.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75320" y="356616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458200" y="3794760"/>
            <a:ext cx="457200" cy="457200"/>
          </a:xfrm>
          <a:prstGeom prst="ellipse">
            <a:avLst/>
          </a:prstGeom>
          <a:solidFill>
            <a:srgbClr val="70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1823" y="3749040"/>
            <a:ext cx="264463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21C30"/>
                </a:solidFill>
              </a:defRPr>
            </a:pPr>
            <a:r>
              <a:t>Strengthen Customer Acquisition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5558" y="4389120"/>
            <a:ext cx="3397084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5F697D"/>
                </a:solidFill>
              </a:defRPr>
            </a:pPr>
            <a:r>
              <a:t>Keep attracting new customers alongside strong retention.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711696"/>
            <a:ext cx="12191695" cy="18288"/>
          </a:xfrm>
          <a:prstGeom prst="rect">
            <a:avLst/>
          </a:prstGeom>
          <a:solidFill>
            <a:srgbClr val="DC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C30"/>
                </a:solidFill>
                <a:latin typeface="Aptos Display"/>
              </a:defRPr>
            </a:pPr>
            <a:r>
              <a:t>From Data to Business Decisions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tlCol="0" anchor="ctr"/>
          <a:lstStyle/>
          <a:p>
            <a:pPr algn="ctr">
              <a:defRPr sz="1200" b="1">
                <a:solidFill>
                  <a:srgbClr val="5F697D"/>
                </a:solidFill>
                <a:latin typeface="Aptos"/>
              </a:defRPr>
            </a:pPr>
            <a:r>
              <a:rPr sz="1600" dirty="0"/>
              <a:t>Strong Customer Loyalty</a:t>
            </a:r>
          </a:p>
          <a:p>
            <a:pPr algn="ctr">
              <a:spcBef>
                <a:spcPts val="600"/>
              </a:spcBef>
              <a:defRPr sz="2500" b="1">
                <a:solidFill>
                  <a:srgbClr val="121C30"/>
                </a:solidFill>
                <a:latin typeface="Aptos Display"/>
              </a:defRPr>
            </a:pPr>
            <a:r>
              <a:rPr lang="en-US" sz="2200" dirty="0">
                <a:latin typeface="Bell MT" panose="02020503060305020303" pitchFamily="18" charset="0"/>
              </a:rPr>
              <a:t>Repeat purchasing is a major characteristic of the customer base.</a:t>
            </a:r>
            <a:endParaRPr sz="2200" dirty="0">
              <a:latin typeface="Bell MT" panose="02020503060305020303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64008" cy="1828800"/>
          </a:xfrm>
          <a:prstGeom prst="rect">
            <a:avLst/>
          </a:prstGeom>
          <a:solidFill>
            <a:srgbClr val="37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0" y="141732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tlCol="0" anchor="ctr"/>
          <a:lstStyle/>
          <a:p>
            <a:pPr algn="ctr">
              <a:defRPr sz="1200" b="1">
                <a:solidFill>
                  <a:srgbClr val="5F697D"/>
                </a:solidFill>
                <a:latin typeface="Aptos"/>
              </a:defRPr>
            </a:pPr>
            <a:r>
              <a:rPr sz="1600" dirty="0"/>
              <a:t>Revenue Concentration</a:t>
            </a:r>
          </a:p>
          <a:p>
            <a:pPr algn="ctr">
              <a:spcBef>
                <a:spcPts val="600"/>
              </a:spcBef>
              <a:defRPr sz="2500" b="1">
                <a:solidFill>
                  <a:srgbClr val="121C30"/>
                </a:solidFill>
                <a:latin typeface="Aptos Display"/>
              </a:defRPr>
            </a:pPr>
            <a:r>
              <a:rPr sz="2000" dirty="0">
                <a:latin typeface="Bell MT" panose="02020503060305020303" pitchFamily="18" charset="0"/>
              </a:rPr>
              <a:t>Clothing and Accessories generate the majority of revenue.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417320"/>
            <a:ext cx="64008" cy="1828800"/>
          </a:xfrm>
          <a:prstGeom prst="rect">
            <a:avLst/>
          </a:prstGeom>
          <a:solidFill>
            <a:srgbClr val="70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138160" y="141732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tlCol="0" anchor="ctr"/>
          <a:lstStyle/>
          <a:p>
            <a:pPr algn="ctr">
              <a:defRPr sz="1200" b="1">
                <a:solidFill>
                  <a:srgbClr val="5F697D"/>
                </a:solidFill>
                <a:latin typeface="Aptos"/>
              </a:defRPr>
            </a:pPr>
            <a:r>
              <a:rPr sz="1600" dirty="0"/>
              <a:t>Subscription Opportunity</a:t>
            </a:r>
          </a:p>
          <a:p>
            <a:pPr algn="ctr">
              <a:spcBef>
                <a:spcPts val="600"/>
              </a:spcBef>
              <a:defRPr sz="2500" b="1">
                <a:solidFill>
                  <a:srgbClr val="121C30"/>
                </a:solidFill>
                <a:latin typeface="Aptos Display"/>
              </a:defRPr>
            </a:pPr>
            <a:r>
              <a:rPr sz="2000" dirty="0">
                <a:latin typeface="Bell MT" panose="02020503060305020303" pitchFamily="18" charset="0"/>
              </a:rPr>
              <a:t>Repeat buyers provide an opportunity to increase subscription adoption.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1417320"/>
            <a:ext cx="64008" cy="1828800"/>
          </a:xfrm>
          <a:prstGeom prst="rect">
            <a:avLst/>
          </a:prstGeom>
          <a:solidFill>
            <a:srgbClr val="269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3977639"/>
            <a:ext cx="10149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1C30"/>
                </a:solidFill>
                <a:latin typeface="Aptos Display"/>
              </a:defRPr>
            </a:pPr>
            <a:r>
              <a:rPr lang="en-IN" dirty="0"/>
              <a:t>Python → PostgreSQL → SQL → Power BI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892040"/>
            <a:ext cx="9784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5F697D"/>
                </a:solidFill>
              </a:defRPr>
            </a:pPr>
            <a:r>
              <a:rPr dirty="0"/>
              <a:t>“Data becomes valuable when it leads to better decisions.”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11696"/>
            <a:ext cx="12191695" cy="18288"/>
          </a:xfrm>
          <a:prstGeom prst="rect">
            <a:avLst/>
          </a:prstGeom>
          <a:solidFill>
            <a:srgbClr val="DC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616A89-F2EE-37B8-FAA6-B81BC3CCB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9F8A921-4647-365D-9713-E5D270F17F7A}"/>
              </a:ext>
            </a:extLst>
          </p:cNvPr>
          <p:cNvSpPr txBox="1"/>
          <p:nvPr/>
        </p:nvSpPr>
        <p:spPr>
          <a:xfrm>
            <a:off x="3738317" y="2451809"/>
            <a:ext cx="4319131" cy="195438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21C30"/>
                </a:solidFill>
                <a:latin typeface="Aptos Display"/>
              </a:defRPr>
            </a:pPr>
            <a:r>
              <a:rPr lang="en-IN" sz="3500" dirty="0">
                <a:latin typeface="Bell MT" panose="02020503060305020303" pitchFamily="18" charset="0"/>
              </a:rPr>
              <a:t>Thank you</a:t>
            </a:r>
          </a:p>
          <a:p>
            <a:pPr algn="ctr">
              <a:defRPr sz="2500" b="1">
                <a:solidFill>
                  <a:srgbClr val="121C30"/>
                </a:solidFill>
                <a:latin typeface="Aptos Display"/>
              </a:defRPr>
            </a:pPr>
            <a:endParaRPr lang="en-IN" dirty="0"/>
          </a:p>
          <a:p>
            <a:pPr algn="ctr"/>
            <a:r>
              <a:rPr lang="en-IN" b="1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Customer Shopping </a:t>
            </a:r>
            <a:r>
              <a:rPr lang="en-IN" b="1" i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Behavior</a:t>
            </a:r>
            <a:r>
              <a:rPr lang="en-IN" b="1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Analysis</a:t>
            </a:r>
            <a:endParaRPr lang="en-IN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From Data → Insights → Business Decisions</a:t>
            </a:r>
            <a:endParaRPr lang="en-I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>
              <a:defRPr sz="2500" b="1">
                <a:solidFill>
                  <a:srgbClr val="121C30"/>
                </a:solidFill>
                <a:latin typeface="Aptos Display"/>
              </a:defRPr>
            </a:pPr>
            <a:endParaRPr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F77187-82D7-1775-132E-ED06FB9E7C0A}"/>
              </a:ext>
            </a:extLst>
          </p:cNvPr>
          <p:cNvSpPr/>
          <p:nvPr/>
        </p:nvSpPr>
        <p:spPr>
          <a:xfrm>
            <a:off x="0" y="6711696"/>
            <a:ext cx="12191695" cy="18288"/>
          </a:xfrm>
          <a:prstGeom prst="rect">
            <a:avLst/>
          </a:prstGeom>
          <a:solidFill>
            <a:srgbClr val="DC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940705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569</Words>
  <Application>Microsoft Office PowerPoint</Application>
  <PresentationFormat>Widescreen</PresentationFormat>
  <Paragraphs>155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Bell MT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viprawarekar85@gmail.com</cp:lastModifiedBy>
  <cp:revision>2</cp:revision>
  <dcterms:created xsi:type="dcterms:W3CDTF">2013-01-27T09:14:16Z</dcterms:created>
  <dcterms:modified xsi:type="dcterms:W3CDTF">2026-08-24T17:19:09Z</dcterms:modified>
  <cp:category/>
</cp:coreProperties>
</file>